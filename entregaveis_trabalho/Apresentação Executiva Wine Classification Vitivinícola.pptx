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9EE62C-A87E-4DE4-ABE1-1CD99A19DACA}" v="2" dt="2026-07-13T19:53:26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Ricardo de Oliveira" userId="0531e3f2-3777-47fd-abc2-898b945f0dc6" providerId="ADAL" clId="{ADC971AD-C15D-4114-9C7B-7AB32F0D6137}"/>
    <pc:docChg chg="custSel addSld modSld sldOrd">
      <pc:chgData name="Bruno Ricardo de Oliveira" userId="0531e3f2-3777-47fd-abc2-898b945f0dc6" providerId="ADAL" clId="{ADC971AD-C15D-4114-9C7B-7AB32F0D6137}" dt="2026-07-13T19:56:40.052" v="187"/>
      <pc:docMkLst>
        <pc:docMk/>
      </pc:docMkLst>
      <pc:sldChg chg="ord">
        <pc:chgData name="Bruno Ricardo de Oliveira" userId="0531e3f2-3777-47fd-abc2-898b945f0dc6" providerId="ADAL" clId="{ADC971AD-C15D-4114-9C7B-7AB32F0D6137}" dt="2026-07-13T19:54:56.556" v="179"/>
        <pc:sldMkLst>
          <pc:docMk/>
          <pc:sldMk cId="3053891418" sldId="261"/>
        </pc:sldMkLst>
      </pc:sldChg>
      <pc:sldChg chg="ord">
        <pc:chgData name="Bruno Ricardo de Oliveira" userId="0531e3f2-3777-47fd-abc2-898b945f0dc6" providerId="ADAL" clId="{ADC971AD-C15D-4114-9C7B-7AB32F0D6137}" dt="2026-07-13T19:56:08.061" v="183"/>
        <pc:sldMkLst>
          <pc:docMk/>
          <pc:sldMk cId="2915968840" sldId="262"/>
        </pc:sldMkLst>
      </pc:sldChg>
      <pc:sldChg chg="ord">
        <pc:chgData name="Bruno Ricardo de Oliveira" userId="0531e3f2-3777-47fd-abc2-898b945f0dc6" providerId="ADAL" clId="{ADC971AD-C15D-4114-9C7B-7AB32F0D6137}" dt="2026-07-13T19:56:26.972" v="185"/>
        <pc:sldMkLst>
          <pc:docMk/>
          <pc:sldMk cId="3001659689" sldId="263"/>
        </pc:sldMkLst>
      </pc:sldChg>
      <pc:sldChg chg="ord">
        <pc:chgData name="Bruno Ricardo de Oliveira" userId="0531e3f2-3777-47fd-abc2-898b945f0dc6" providerId="ADAL" clId="{ADC971AD-C15D-4114-9C7B-7AB32F0D6137}" dt="2026-07-13T19:56:40.052" v="187"/>
        <pc:sldMkLst>
          <pc:docMk/>
          <pc:sldMk cId="2648492286" sldId="265"/>
        </pc:sldMkLst>
      </pc:sldChg>
      <pc:sldChg chg="addSp delSp modSp add mod setBg">
        <pc:chgData name="Bruno Ricardo de Oliveira" userId="0531e3f2-3777-47fd-abc2-898b945f0dc6" providerId="ADAL" clId="{ADC971AD-C15D-4114-9C7B-7AB32F0D6137}" dt="2026-07-13T19:53:30.664" v="173" actId="20577"/>
        <pc:sldMkLst>
          <pc:docMk/>
          <pc:sldMk cId="1261097953" sldId="268"/>
        </pc:sldMkLst>
        <pc:spChg chg="del">
          <ac:chgData name="Bruno Ricardo de Oliveira" userId="0531e3f2-3777-47fd-abc2-898b945f0dc6" providerId="ADAL" clId="{ADC971AD-C15D-4114-9C7B-7AB32F0D6137}" dt="2026-07-13T19:52:46.214" v="53" actId="478"/>
          <ac:spMkLst>
            <pc:docMk/>
            <pc:sldMk cId="1261097953" sldId="268"/>
            <ac:spMk id="3" creationId="{F8899BAB-270B-75C6-B42D-3970723BFEC4}"/>
          </ac:spMkLst>
        </pc:spChg>
        <pc:spChg chg="add del mod">
          <ac:chgData name="Bruno Ricardo de Oliveira" userId="0531e3f2-3777-47fd-abc2-898b945f0dc6" providerId="ADAL" clId="{ADC971AD-C15D-4114-9C7B-7AB32F0D6137}" dt="2026-07-13T19:52:47.972" v="54" actId="478"/>
          <ac:spMkLst>
            <pc:docMk/>
            <pc:sldMk cId="1261097953" sldId="268"/>
            <ac:spMk id="4" creationId="{87011869-970C-A022-3A47-B3E12C6738F1}"/>
          </ac:spMkLst>
        </pc:spChg>
        <pc:spChg chg="mod">
          <ac:chgData name="Bruno Ricardo de Oliveira" userId="0531e3f2-3777-47fd-abc2-898b945f0dc6" providerId="ADAL" clId="{ADC971AD-C15D-4114-9C7B-7AB32F0D6137}" dt="2026-07-13T19:53:30.664" v="173" actId="20577"/>
          <ac:spMkLst>
            <pc:docMk/>
            <pc:sldMk cId="1261097953" sldId="268"/>
            <ac:spMk id="19" creationId="{51176DE2-CC5A-FEAD-6B22-2A8C547C971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175629-F700-4311-859F-050AEBF6AE6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ED5703-B5DB-4ACB-BE06-DD6BBCE2393A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 qualidade do vinho é avaliada por especialistas, em análise sensorial.</a:t>
          </a:r>
          <a:endParaRPr lang="en-US"/>
        </a:p>
      </dgm:t>
    </dgm:pt>
    <dgm:pt modelId="{DBE60966-7781-4588-84D7-3FCCB7400CB9}" type="parTrans" cxnId="{03325FF5-E793-4DBA-9623-39F187646FAB}">
      <dgm:prSet/>
      <dgm:spPr/>
      <dgm:t>
        <a:bodyPr/>
        <a:lstStyle/>
        <a:p>
          <a:endParaRPr lang="en-US"/>
        </a:p>
      </dgm:t>
    </dgm:pt>
    <dgm:pt modelId="{3D6EEF97-A0AE-4904-96B6-CF2F2739791A}" type="sibTrans" cxnId="{03325FF5-E793-4DBA-9623-39F187646FAB}">
      <dgm:prSet/>
      <dgm:spPr/>
      <dgm:t>
        <a:bodyPr/>
        <a:lstStyle/>
        <a:p>
          <a:endParaRPr lang="en-US"/>
        </a:p>
      </dgm:t>
    </dgm:pt>
    <dgm:pt modelId="{AE70394D-DC27-4B02-9C0A-7E43252BA32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Processo subjetivo, lento e caro — difícil de padronizar em escala.</a:t>
          </a:r>
          <a:endParaRPr lang="en-US"/>
        </a:p>
      </dgm:t>
    </dgm:pt>
    <dgm:pt modelId="{F50AE06F-A2F4-4EDF-8322-C27724EBAF06}" type="parTrans" cxnId="{02C6F5E7-F1A1-4BCF-8502-8CB433D2D515}">
      <dgm:prSet/>
      <dgm:spPr/>
      <dgm:t>
        <a:bodyPr/>
        <a:lstStyle/>
        <a:p>
          <a:endParaRPr lang="en-US"/>
        </a:p>
      </dgm:t>
    </dgm:pt>
    <dgm:pt modelId="{C1DB54C6-D2E9-4D95-925E-F885087D9023}" type="sibTrans" cxnId="{02C6F5E7-F1A1-4BCF-8502-8CB433D2D515}">
      <dgm:prSet/>
      <dgm:spPr/>
      <dgm:t>
        <a:bodyPr/>
        <a:lstStyle/>
        <a:p>
          <a:endParaRPr lang="en-US"/>
        </a:p>
      </dgm:t>
    </dgm:pt>
    <dgm:pt modelId="{743E8B81-542F-4F17-B29C-518BDCC514C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Pergunta de negócio: conseguimos antecipar quais lotes serão de alta qualidade usando apenas os </a:t>
          </a:r>
          <a:r>
            <a:rPr lang="pt-BR" b="1" dirty="0"/>
            <a:t>exames físico-químicos</a:t>
          </a:r>
          <a:r>
            <a:rPr lang="pt-BR" dirty="0"/>
            <a:t> que já fazemos hoje?</a:t>
          </a:r>
          <a:endParaRPr lang="en-US" dirty="0"/>
        </a:p>
      </dgm:t>
    </dgm:pt>
    <dgm:pt modelId="{67B4345B-8506-4A11-9202-36D4486B207B}" type="parTrans" cxnId="{B6A76023-CC58-4C45-B64A-89571786C9B6}">
      <dgm:prSet/>
      <dgm:spPr/>
      <dgm:t>
        <a:bodyPr/>
        <a:lstStyle/>
        <a:p>
          <a:endParaRPr lang="en-US"/>
        </a:p>
      </dgm:t>
    </dgm:pt>
    <dgm:pt modelId="{437AE02F-FEE5-4ACE-93D9-6A6D8506AD3C}" type="sibTrans" cxnId="{B6A76023-CC58-4C45-B64A-89571786C9B6}">
      <dgm:prSet/>
      <dgm:spPr/>
      <dgm:t>
        <a:bodyPr/>
        <a:lstStyle/>
        <a:p>
          <a:endParaRPr lang="en-US"/>
        </a:p>
      </dgm:t>
    </dgm:pt>
    <dgm:pt modelId="{061AA4D2-82A8-48B3-ABD1-FAF606F6111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Valor: priorizar lotes promissores, reduzir custo de avaliação e apoiar o controle de qualidade.</a:t>
          </a:r>
          <a:endParaRPr lang="en-US" dirty="0"/>
        </a:p>
      </dgm:t>
    </dgm:pt>
    <dgm:pt modelId="{3A211E50-9B0B-44D7-BDA5-34390C172D31}" type="parTrans" cxnId="{05DA22E6-8EFF-4B04-9C93-D0344155BE2F}">
      <dgm:prSet/>
      <dgm:spPr/>
      <dgm:t>
        <a:bodyPr/>
        <a:lstStyle/>
        <a:p>
          <a:endParaRPr lang="en-US"/>
        </a:p>
      </dgm:t>
    </dgm:pt>
    <dgm:pt modelId="{EAB3E8DB-68D4-4904-A13E-56CD5ED5D0EF}" type="sibTrans" cxnId="{05DA22E6-8EFF-4B04-9C93-D0344155BE2F}">
      <dgm:prSet/>
      <dgm:spPr/>
      <dgm:t>
        <a:bodyPr/>
        <a:lstStyle/>
        <a:p>
          <a:endParaRPr lang="en-US"/>
        </a:p>
      </dgm:t>
    </dgm:pt>
    <dgm:pt modelId="{CBAEAEC3-C231-4486-BD8B-24EFF6D82476}" type="pres">
      <dgm:prSet presAssocID="{15175629-F700-4311-859F-050AEBF6AE67}" presName="root" presStyleCnt="0">
        <dgm:presLayoutVars>
          <dgm:dir/>
          <dgm:resizeHandles val="exact"/>
        </dgm:presLayoutVars>
      </dgm:prSet>
      <dgm:spPr/>
    </dgm:pt>
    <dgm:pt modelId="{56797220-8802-42EB-84F7-6E0A0E15FD72}" type="pres">
      <dgm:prSet presAssocID="{19ED5703-B5DB-4ACB-BE06-DD6BBCE2393A}" presName="compNode" presStyleCnt="0"/>
      <dgm:spPr/>
    </dgm:pt>
    <dgm:pt modelId="{5097DB8A-8424-4303-A103-F65173DB0A1C}" type="pres">
      <dgm:prSet presAssocID="{19ED5703-B5DB-4ACB-BE06-DD6BBCE2393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ho"/>
        </a:ext>
      </dgm:extLst>
    </dgm:pt>
    <dgm:pt modelId="{34664217-6229-4050-AF9D-E350135838C3}" type="pres">
      <dgm:prSet presAssocID="{19ED5703-B5DB-4ACB-BE06-DD6BBCE2393A}" presName="spaceRect" presStyleCnt="0"/>
      <dgm:spPr/>
    </dgm:pt>
    <dgm:pt modelId="{317D27C0-E2EF-4E60-89F9-2DBE80ADD5DC}" type="pres">
      <dgm:prSet presAssocID="{19ED5703-B5DB-4ACB-BE06-DD6BBCE2393A}" presName="textRect" presStyleLbl="revTx" presStyleIdx="0" presStyleCnt="4">
        <dgm:presLayoutVars>
          <dgm:chMax val="1"/>
          <dgm:chPref val="1"/>
        </dgm:presLayoutVars>
      </dgm:prSet>
      <dgm:spPr/>
    </dgm:pt>
    <dgm:pt modelId="{03588BCE-B390-463C-BF03-E088AB1D24CF}" type="pres">
      <dgm:prSet presAssocID="{3D6EEF97-A0AE-4904-96B6-CF2F2739791A}" presName="sibTrans" presStyleCnt="0"/>
      <dgm:spPr/>
    </dgm:pt>
    <dgm:pt modelId="{BC86F268-73B3-4EC4-8F79-65564AB7EBB6}" type="pres">
      <dgm:prSet presAssocID="{AE70394D-DC27-4B02-9C0A-7E43252BA326}" presName="compNode" presStyleCnt="0"/>
      <dgm:spPr/>
    </dgm:pt>
    <dgm:pt modelId="{C73E03BB-8668-4E7A-B89C-BB8C21D99395}" type="pres">
      <dgm:prSet presAssocID="{AE70394D-DC27-4B02-9C0A-7E43252BA3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cavadeira"/>
        </a:ext>
      </dgm:extLst>
    </dgm:pt>
    <dgm:pt modelId="{03CAF8FB-49C1-4FC3-A641-7864923BB96D}" type="pres">
      <dgm:prSet presAssocID="{AE70394D-DC27-4B02-9C0A-7E43252BA326}" presName="spaceRect" presStyleCnt="0"/>
      <dgm:spPr/>
    </dgm:pt>
    <dgm:pt modelId="{A259B41A-5730-4E23-9385-066079EA05AB}" type="pres">
      <dgm:prSet presAssocID="{AE70394D-DC27-4B02-9C0A-7E43252BA326}" presName="textRect" presStyleLbl="revTx" presStyleIdx="1" presStyleCnt="4">
        <dgm:presLayoutVars>
          <dgm:chMax val="1"/>
          <dgm:chPref val="1"/>
        </dgm:presLayoutVars>
      </dgm:prSet>
      <dgm:spPr/>
    </dgm:pt>
    <dgm:pt modelId="{60A417A5-6E79-4810-9B23-47116EBF4D8B}" type="pres">
      <dgm:prSet presAssocID="{C1DB54C6-D2E9-4D95-925E-F885087D9023}" presName="sibTrans" presStyleCnt="0"/>
      <dgm:spPr/>
    </dgm:pt>
    <dgm:pt modelId="{9E3462C4-802F-4FAA-8A9F-BC3D0B10082F}" type="pres">
      <dgm:prSet presAssocID="{743E8B81-542F-4F17-B29C-518BDCC514CB}" presName="compNode" presStyleCnt="0"/>
      <dgm:spPr/>
    </dgm:pt>
    <dgm:pt modelId="{FC003188-14EF-4FEB-96FB-F17127CC6930}" type="pres">
      <dgm:prSet presAssocID="{743E8B81-542F-4F17-B29C-518BDCC514C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6A1BC515-8799-4303-AE7E-D0207F4A5051}" type="pres">
      <dgm:prSet presAssocID="{743E8B81-542F-4F17-B29C-518BDCC514CB}" presName="spaceRect" presStyleCnt="0"/>
      <dgm:spPr/>
    </dgm:pt>
    <dgm:pt modelId="{144B8956-825F-487D-9CC8-93606C603391}" type="pres">
      <dgm:prSet presAssocID="{743E8B81-542F-4F17-B29C-518BDCC514CB}" presName="textRect" presStyleLbl="revTx" presStyleIdx="2" presStyleCnt="4">
        <dgm:presLayoutVars>
          <dgm:chMax val="1"/>
          <dgm:chPref val="1"/>
        </dgm:presLayoutVars>
      </dgm:prSet>
      <dgm:spPr/>
    </dgm:pt>
    <dgm:pt modelId="{D2A8EBA5-26F1-47A8-977B-17BAEFDC0395}" type="pres">
      <dgm:prSet presAssocID="{437AE02F-FEE5-4ACE-93D9-6A6D8506AD3C}" presName="sibTrans" presStyleCnt="0"/>
      <dgm:spPr/>
    </dgm:pt>
    <dgm:pt modelId="{976396AA-1562-4689-8205-384C59AB96BA}" type="pres">
      <dgm:prSet presAssocID="{061AA4D2-82A8-48B3-ABD1-FAF606F61113}" presName="compNode" presStyleCnt="0"/>
      <dgm:spPr/>
    </dgm:pt>
    <dgm:pt modelId="{26AE537D-79CC-4873-97F3-66B9864035D4}" type="pres">
      <dgm:prSet presAssocID="{061AA4D2-82A8-48B3-ABD1-FAF606F6111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9CCBCD-E858-43CE-8155-6BDCCAA30188}" type="pres">
      <dgm:prSet presAssocID="{061AA4D2-82A8-48B3-ABD1-FAF606F61113}" presName="spaceRect" presStyleCnt="0"/>
      <dgm:spPr/>
    </dgm:pt>
    <dgm:pt modelId="{6619ADA5-2293-48EC-A501-ED7424F18B16}" type="pres">
      <dgm:prSet presAssocID="{061AA4D2-82A8-48B3-ABD1-FAF606F611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158105-1512-4C81-A471-D7676A10370B}" type="presOf" srcId="{15175629-F700-4311-859F-050AEBF6AE67}" destId="{CBAEAEC3-C231-4486-BD8B-24EFF6D82476}" srcOrd="0" destOrd="0" presId="urn:microsoft.com/office/officeart/2018/2/layout/IconLabelList"/>
    <dgm:cxn modelId="{B6A76023-CC58-4C45-B64A-89571786C9B6}" srcId="{15175629-F700-4311-859F-050AEBF6AE67}" destId="{743E8B81-542F-4F17-B29C-518BDCC514CB}" srcOrd="2" destOrd="0" parTransId="{67B4345B-8506-4A11-9202-36D4486B207B}" sibTransId="{437AE02F-FEE5-4ACE-93D9-6A6D8506AD3C}"/>
    <dgm:cxn modelId="{C1A1318A-CC81-46E6-9A58-7AEEA027AB57}" type="presOf" srcId="{061AA4D2-82A8-48B3-ABD1-FAF606F61113}" destId="{6619ADA5-2293-48EC-A501-ED7424F18B16}" srcOrd="0" destOrd="0" presId="urn:microsoft.com/office/officeart/2018/2/layout/IconLabelList"/>
    <dgm:cxn modelId="{E0E056B1-56B7-4530-98A7-96EFD1368CCC}" type="presOf" srcId="{19ED5703-B5DB-4ACB-BE06-DD6BBCE2393A}" destId="{317D27C0-E2EF-4E60-89F9-2DBE80ADD5DC}" srcOrd="0" destOrd="0" presId="urn:microsoft.com/office/officeart/2018/2/layout/IconLabelList"/>
    <dgm:cxn modelId="{05DA22E6-8EFF-4B04-9C93-D0344155BE2F}" srcId="{15175629-F700-4311-859F-050AEBF6AE67}" destId="{061AA4D2-82A8-48B3-ABD1-FAF606F61113}" srcOrd="3" destOrd="0" parTransId="{3A211E50-9B0B-44D7-BDA5-34390C172D31}" sibTransId="{EAB3E8DB-68D4-4904-A13E-56CD5ED5D0EF}"/>
    <dgm:cxn modelId="{02C6F5E7-F1A1-4BCF-8502-8CB433D2D515}" srcId="{15175629-F700-4311-859F-050AEBF6AE67}" destId="{AE70394D-DC27-4B02-9C0A-7E43252BA326}" srcOrd="1" destOrd="0" parTransId="{F50AE06F-A2F4-4EDF-8322-C27724EBAF06}" sibTransId="{C1DB54C6-D2E9-4D95-925E-F885087D9023}"/>
    <dgm:cxn modelId="{339628EB-EDB9-49BB-A25F-7F235D7A609C}" type="presOf" srcId="{AE70394D-DC27-4B02-9C0A-7E43252BA326}" destId="{A259B41A-5730-4E23-9385-066079EA05AB}" srcOrd="0" destOrd="0" presId="urn:microsoft.com/office/officeart/2018/2/layout/IconLabelList"/>
    <dgm:cxn modelId="{4185F7CF-FC09-4178-9CCA-F7DFDD0C97E2}" type="presOf" srcId="{743E8B81-542F-4F17-B29C-518BDCC514CB}" destId="{144B8956-825F-487D-9CC8-93606C603391}" srcOrd="0" destOrd="0" presId="urn:microsoft.com/office/officeart/2018/2/layout/IconLabelList"/>
    <dgm:cxn modelId="{03325FF5-E793-4DBA-9623-39F187646FAB}" srcId="{15175629-F700-4311-859F-050AEBF6AE67}" destId="{19ED5703-B5DB-4ACB-BE06-DD6BBCE2393A}" srcOrd="0" destOrd="0" parTransId="{DBE60966-7781-4588-84D7-3FCCB7400CB9}" sibTransId="{3D6EEF97-A0AE-4904-96B6-CF2F2739791A}"/>
    <dgm:cxn modelId="{1F2EE3E8-DC41-4D04-BC8B-6332A0107F5B}" type="presParOf" srcId="{CBAEAEC3-C231-4486-BD8B-24EFF6D82476}" destId="{56797220-8802-42EB-84F7-6E0A0E15FD72}" srcOrd="0" destOrd="0" presId="urn:microsoft.com/office/officeart/2018/2/layout/IconLabelList"/>
    <dgm:cxn modelId="{FC1D8643-B9E2-4255-B0BA-23E7FDFD4BA0}" type="presParOf" srcId="{56797220-8802-42EB-84F7-6E0A0E15FD72}" destId="{5097DB8A-8424-4303-A103-F65173DB0A1C}" srcOrd="0" destOrd="0" presId="urn:microsoft.com/office/officeart/2018/2/layout/IconLabelList"/>
    <dgm:cxn modelId="{39B6A5DF-1163-4E56-90AA-152C890556A6}" type="presParOf" srcId="{56797220-8802-42EB-84F7-6E0A0E15FD72}" destId="{34664217-6229-4050-AF9D-E350135838C3}" srcOrd="1" destOrd="0" presId="urn:microsoft.com/office/officeart/2018/2/layout/IconLabelList"/>
    <dgm:cxn modelId="{FA2DB454-D0A8-4A45-BF40-ADEF29E6BA11}" type="presParOf" srcId="{56797220-8802-42EB-84F7-6E0A0E15FD72}" destId="{317D27C0-E2EF-4E60-89F9-2DBE80ADD5DC}" srcOrd="2" destOrd="0" presId="urn:microsoft.com/office/officeart/2018/2/layout/IconLabelList"/>
    <dgm:cxn modelId="{9DD27152-9289-4327-B76C-616395041A85}" type="presParOf" srcId="{CBAEAEC3-C231-4486-BD8B-24EFF6D82476}" destId="{03588BCE-B390-463C-BF03-E088AB1D24CF}" srcOrd="1" destOrd="0" presId="urn:microsoft.com/office/officeart/2018/2/layout/IconLabelList"/>
    <dgm:cxn modelId="{776771E9-8E88-4D0E-8C66-9AE0C2BEF512}" type="presParOf" srcId="{CBAEAEC3-C231-4486-BD8B-24EFF6D82476}" destId="{BC86F268-73B3-4EC4-8F79-65564AB7EBB6}" srcOrd="2" destOrd="0" presId="urn:microsoft.com/office/officeart/2018/2/layout/IconLabelList"/>
    <dgm:cxn modelId="{971177E0-F6EA-4F59-98DB-5D1DF21C5A87}" type="presParOf" srcId="{BC86F268-73B3-4EC4-8F79-65564AB7EBB6}" destId="{C73E03BB-8668-4E7A-B89C-BB8C21D99395}" srcOrd="0" destOrd="0" presId="urn:microsoft.com/office/officeart/2018/2/layout/IconLabelList"/>
    <dgm:cxn modelId="{B26064CC-F7A0-43A7-A442-379A7636056E}" type="presParOf" srcId="{BC86F268-73B3-4EC4-8F79-65564AB7EBB6}" destId="{03CAF8FB-49C1-4FC3-A641-7864923BB96D}" srcOrd="1" destOrd="0" presId="urn:microsoft.com/office/officeart/2018/2/layout/IconLabelList"/>
    <dgm:cxn modelId="{FDC11004-7918-4CAB-AD39-572AF3E3DE94}" type="presParOf" srcId="{BC86F268-73B3-4EC4-8F79-65564AB7EBB6}" destId="{A259B41A-5730-4E23-9385-066079EA05AB}" srcOrd="2" destOrd="0" presId="urn:microsoft.com/office/officeart/2018/2/layout/IconLabelList"/>
    <dgm:cxn modelId="{6FA013CC-81BF-4E20-9C01-047022F9B942}" type="presParOf" srcId="{CBAEAEC3-C231-4486-BD8B-24EFF6D82476}" destId="{60A417A5-6E79-4810-9B23-47116EBF4D8B}" srcOrd="3" destOrd="0" presId="urn:microsoft.com/office/officeart/2018/2/layout/IconLabelList"/>
    <dgm:cxn modelId="{4CE98416-CC4A-463E-BA81-853727A6EB6E}" type="presParOf" srcId="{CBAEAEC3-C231-4486-BD8B-24EFF6D82476}" destId="{9E3462C4-802F-4FAA-8A9F-BC3D0B10082F}" srcOrd="4" destOrd="0" presId="urn:microsoft.com/office/officeart/2018/2/layout/IconLabelList"/>
    <dgm:cxn modelId="{5140FDC1-824C-4E27-B62E-EBA2CA915D5B}" type="presParOf" srcId="{9E3462C4-802F-4FAA-8A9F-BC3D0B10082F}" destId="{FC003188-14EF-4FEB-96FB-F17127CC6930}" srcOrd="0" destOrd="0" presId="urn:microsoft.com/office/officeart/2018/2/layout/IconLabelList"/>
    <dgm:cxn modelId="{8342B7D0-3CEE-46BB-849C-7C91F2C3FC3D}" type="presParOf" srcId="{9E3462C4-802F-4FAA-8A9F-BC3D0B10082F}" destId="{6A1BC515-8799-4303-AE7E-D0207F4A5051}" srcOrd="1" destOrd="0" presId="urn:microsoft.com/office/officeart/2018/2/layout/IconLabelList"/>
    <dgm:cxn modelId="{D8615E49-E6F9-4B60-BA33-1D870F8F0BAB}" type="presParOf" srcId="{9E3462C4-802F-4FAA-8A9F-BC3D0B10082F}" destId="{144B8956-825F-487D-9CC8-93606C603391}" srcOrd="2" destOrd="0" presId="urn:microsoft.com/office/officeart/2018/2/layout/IconLabelList"/>
    <dgm:cxn modelId="{7ED81FC2-A074-48A1-B7F6-1FBFEEA94327}" type="presParOf" srcId="{CBAEAEC3-C231-4486-BD8B-24EFF6D82476}" destId="{D2A8EBA5-26F1-47A8-977B-17BAEFDC0395}" srcOrd="5" destOrd="0" presId="urn:microsoft.com/office/officeart/2018/2/layout/IconLabelList"/>
    <dgm:cxn modelId="{D8CA6FA2-EA99-4404-83D6-E9E7F9FE1E44}" type="presParOf" srcId="{CBAEAEC3-C231-4486-BD8B-24EFF6D82476}" destId="{976396AA-1562-4689-8205-384C59AB96BA}" srcOrd="6" destOrd="0" presId="urn:microsoft.com/office/officeart/2018/2/layout/IconLabelList"/>
    <dgm:cxn modelId="{B65D70FE-56C3-44F9-A3EE-5EA77A865876}" type="presParOf" srcId="{976396AA-1562-4689-8205-384C59AB96BA}" destId="{26AE537D-79CC-4873-97F3-66B9864035D4}" srcOrd="0" destOrd="0" presId="urn:microsoft.com/office/officeart/2018/2/layout/IconLabelList"/>
    <dgm:cxn modelId="{0DA21E99-B753-423D-87F6-1C6C593E392A}" type="presParOf" srcId="{976396AA-1562-4689-8205-384C59AB96BA}" destId="{899CCBCD-E858-43CE-8155-6BDCCAA30188}" srcOrd="1" destOrd="0" presId="urn:microsoft.com/office/officeart/2018/2/layout/IconLabelList"/>
    <dgm:cxn modelId="{07A2CEAD-F95A-4D32-A2E7-F7E0E426F6FB}" type="presParOf" srcId="{976396AA-1562-4689-8205-384C59AB96BA}" destId="{6619ADA5-2293-48EC-A501-ED7424F18B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7DB8A-8424-4303-A103-F65173DB0A1C}">
      <dsp:nvSpPr>
        <dsp:cNvPr id="0" name=""/>
        <dsp:cNvSpPr/>
      </dsp:nvSpPr>
      <dsp:spPr>
        <a:xfrm>
          <a:off x="1027755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D27C0-E2EF-4E60-89F9-2DBE80ADD5DC}">
      <dsp:nvSpPr>
        <dsp:cNvPr id="0" name=""/>
        <dsp:cNvSpPr/>
      </dsp:nvSpPr>
      <dsp:spPr>
        <a:xfrm>
          <a:off x="460038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 qualidade do vinho é avaliada por especialistas, em análise sensorial.</a:t>
          </a:r>
          <a:endParaRPr lang="en-US" sz="1100" kern="1200"/>
        </a:p>
      </dsp:txBody>
      <dsp:txXfrm>
        <a:off x="460038" y="1766905"/>
        <a:ext cx="2064425" cy="810000"/>
      </dsp:txXfrm>
    </dsp:sp>
    <dsp:sp modelId="{C73E03BB-8668-4E7A-B89C-BB8C21D99395}">
      <dsp:nvSpPr>
        <dsp:cNvPr id="0" name=""/>
        <dsp:cNvSpPr/>
      </dsp:nvSpPr>
      <dsp:spPr>
        <a:xfrm>
          <a:off x="3453454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9B41A-5730-4E23-9385-066079EA05AB}">
      <dsp:nvSpPr>
        <dsp:cNvPr id="0" name=""/>
        <dsp:cNvSpPr/>
      </dsp:nvSpPr>
      <dsp:spPr>
        <a:xfrm>
          <a:off x="2885737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Processo subjetivo, lento e caro — difícil de padronizar em escala.</a:t>
          </a:r>
          <a:endParaRPr lang="en-US" sz="1100" kern="1200"/>
        </a:p>
      </dsp:txBody>
      <dsp:txXfrm>
        <a:off x="2885737" y="1766905"/>
        <a:ext cx="2064425" cy="810000"/>
      </dsp:txXfrm>
    </dsp:sp>
    <dsp:sp modelId="{FC003188-14EF-4FEB-96FB-F17127CC6930}">
      <dsp:nvSpPr>
        <dsp:cNvPr id="0" name=""/>
        <dsp:cNvSpPr/>
      </dsp:nvSpPr>
      <dsp:spPr>
        <a:xfrm>
          <a:off x="5879154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B8956-825F-487D-9CC8-93606C603391}">
      <dsp:nvSpPr>
        <dsp:cNvPr id="0" name=""/>
        <dsp:cNvSpPr/>
      </dsp:nvSpPr>
      <dsp:spPr>
        <a:xfrm>
          <a:off x="5311437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Pergunta de negócio: conseguimos antecipar quais lotes serão de alta qualidade usando apenas os </a:t>
          </a:r>
          <a:r>
            <a:rPr lang="pt-BR" sz="1100" b="1" kern="1200" dirty="0"/>
            <a:t>exames físico-químicos</a:t>
          </a:r>
          <a:r>
            <a:rPr lang="pt-BR" sz="1100" kern="1200" dirty="0"/>
            <a:t> que já fazemos hoje?</a:t>
          </a:r>
          <a:endParaRPr lang="en-US" sz="1100" kern="1200" dirty="0"/>
        </a:p>
      </dsp:txBody>
      <dsp:txXfrm>
        <a:off x="5311437" y="1766905"/>
        <a:ext cx="2064425" cy="810000"/>
      </dsp:txXfrm>
    </dsp:sp>
    <dsp:sp modelId="{26AE537D-79CC-4873-97F3-66B9864035D4}">
      <dsp:nvSpPr>
        <dsp:cNvPr id="0" name=""/>
        <dsp:cNvSpPr/>
      </dsp:nvSpPr>
      <dsp:spPr>
        <a:xfrm>
          <a:off x="8304853" y="530842"/>
          <a:ext cx="928991" cy="92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19ADA5-2293-48EC-A501-ED7424F18B16}">
      <dsp:nvSpPr>
        <dsp:cNvPr id="0" name=""/>
        <dsp:cNvSpPr/>
      </dsp:nvSpPr>
      <dsp:spPr>
        <a:xfrm>
          <a:off x="7737136" y="1766905"/>
          <a:ext cx="2064425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Valor: priorizar lotes promissores, reduzir custo de avaliação e apoiar o controle de qualidade.</a:t>
          </a:r>
          <a:endParaRPr lang="en-US" sz="1100" kern="1200" dirty="0"/>
        </a:p>
      </dsp:txBody>
      <dsp:txXfrm>
        <a:off x="7737136" y="1766905"/>
        <a:ext cx="2064425" cy="81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2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014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80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849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650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1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57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14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73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439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386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ADCDE7-D229-DA64-C56B-11B814D76D1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1986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Pública |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288322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uno88rick/wine-Quality-classificatio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4B373442-8016-6687-1904-122DDB88BE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F68CC5C9-A48B-962C-2AEB-19FC64013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3888590"/>
            <a:ext cx="3633535" cy="974347"/>
          </a:xfrm>
        </p:spPr>
        <p:txBody>
          <a:bodyPr anchor="ctr">
            <a:normAutofit fontScale="85000" lnSpcReduction="20000"/>
          </a:bodyPr>
          <a:lstStyle/>
          <a:p>
            <a:pPr algn="l"/>
            <a:r>
              <a:rPr lang="pt-BR" dirty="0"/>
              <a:t>Bruno Ricardo de Oliveira </a:t>
            </a:r>
          </a:p>
          <a:p>
            <a:pPr algn="l"/>
            <a:r>
              <a:rPr lang="pt-BR" dirty="0"/>
              <a:t>Tech </a:t>
            </a:r>
            <a:r>
              <a:rPr lang="pt-BR" dirty="0" err="1"/>
              <a:t>Challenge</a:t>
            </a:r>
            <a:r>
              <a:rPr lang="pt-BR" dirty="0"/>
              <a:t> – Fase 2 - Grupo 143</a:t>
            </a:r>
          </a:p>
          <a:p>
            <a:pPr algn="l"/>
            <a:r>
              <a:rPr lang="pt-BR" dirty="0"/>
              <a:t>Pós Tech FIAP - Data </a:t>
            </a:r>
            <a:r>
              <a:rPr lang="pt-BR" dirty="0" err="1"/>
              <a:t>Analytics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879B177-BFA2-3260-5E80-72E42310532C}"/>
              </a:ext>
            </a:extLst>
          </p:cNvPr>
          <p:cNvSpPr txBox="1"/>
          <p:nvPr/>
        </p:nvSpPr>
        <p:spPr>
          <a:xfrm>
            <a:off x="320040" y="693554"/>
            <a:ext cx="9628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>
                <a:solidFill>
                  <a:schemeClr val="tx1"/>
                </a:solidFill>
              </a:rPr>
              <a:t>Prevendo a Qualidade</a:t>
            </a:r>
            <a:br>
              <a:rPr lang="pt-BR" sz="4800" b="1" dirty="0">
                <a:solidFill>
                  <a:schemeClr val="tx1"/>
                </a:solidFill>
              </a:rPr>
            </a:br>
            <a:r>
              <a:rPr lang="pt-BR" sz="4800" b="1" dirty="0">
                <a:solidFill>
                  <a:schemeClr val="tx1"/>
                </a:solidFill>
              </a:rPr>
              <a:t>de Vinhos com Dados</a:t>
            </a:r>
            <a:endParaRPr lang="pt-BR" sz="48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FA986F9-6CF9-4F34-CFB3-8965BBCEB106}"/>
              </a:ext>
            </a:extLst>
          </p:cNvPr>
          <p:cNvSpPr txBox="1"/>
          <p:nvPr/>
        </p:nvSpPr>
        <p:spPr>
          <a:xfrm>
            <a:off x="320040" y="2738577"/>
            <a:ext cx="9628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tx1"/>
                </a:solidFill>
              </a:rPr>
              <a:t>Vitivinícola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54081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5A68E-E4BD-1083-19B2-EB14E846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pt-BR" dirty="0"/>
              <a:t>O Problema de Negócio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E7E15BE-2401-6167-CCA0-134A3CCC5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970876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129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2AF20-8AEC-8A9E-0BAF-295AF8DD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dados que temos disponíveis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DF5E3B-C9D4-E053-3155-5D111FC0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err="1"/>
              <a:t>Wine</a:t>
            </a:r>
            <a:r>
              <a:rPr lang="pt-BR" dirty="0"/>
              <a:t> Quality </a:t>
            </a:r>
            <a:r>
              <a:rPr lang="pt-BR" dirty="0" err="1"/>
              <a:t>Dataset</a:t>
            </a:r>
            <a:r>
              <a:rPr lang="pt-BR" dirty="0"/>
              <a:t> (vinho tinto): 1.143 linhas com dados dos vinhos avaliados por especialistas;</a:t>
            </a:r>
          </a:p>
          <a:p>
            <a:pPr lvl="0"/>
            <a:r>
              <a:rPr lang="pt-BR" dirty="0"/>
              <a:t>11 medições físico-químicas por amostra;</a:t>
            </a:r>
          </a:p>
          <a:p>
            <a:pPr lvl="0"/>
            <a:r>
              <a:rPr lang="pt-BR" dirty="0"/>
              <a:t>Nota de qualidade de 0 a 10 dada por especialistas.</a:t>
            </a:r>
          </a:p>
          <a:p>
            <a:pPr lvl="0"/>
            <a:r>
              <a:rPr lang="pt-BR" dirty="0"/>
              <a:t>Sem valores ausentes; </a:t>
            </a:r>
          </a:p>
          <a:p>
            <a:pPr lvl="0"/>
            <a:r>
              <a:rPr lang="pt-BR" dirty="0"/>
              <a:t>Removidas 125 amostras duplicadas para garantir uma avaliação honesta → </a:t>
            </a:r>
            <a:r>
              <a:rPr lang="pt-BR" b="1" dirty="0"/>
              <a:t>1.018 amostras</a:t>
            </a:r>
            <a:r>
              <a:rPr lang="pt-BR" dirty="0"/>
              <a:t> finais.</a:t>
            </a:r>
          </a:p>
        </p:txBody>
      </p:sp>
    </p:spTree>
    <p:extLst>
      <p:ext uri="{BB962C8B-B14F-4D97-AF65-F5344CB8AC3E}">
        <p14:creationId xmlns:p14="http://schemas.microsoft.com/office/powerpoint/2010/main" val="17583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3870C-EF24-2B26-41AE-F6EC2DAC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C2908-DF08-FFC9-FC1A-0627EA2B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964692"/>
            <a:ext cx="5928637" cy="1188720"/>
          </a:xfrm>
        </p:spPr>
        <p:txBody>
          <a:bodyPr>
            <a:normAutofit/>
          </a:bodyPr>
          <a:lstStyle/>
          <a:p>
            <a:r>
              <a:rPr lang="pt-BR"/>
              <a:t>O que a Análise Exploratória Revelou?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FDB27B-30FC-9C6D-BA22-4BB333EF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38044"/>
            <a:ext cx="5925312" cy="3101983"/>
          </a:xfrm>
        </p:spPr>
        <p:txBody>
          <a:bodyPr>
            <a:normAutofit/>
          </a:bodyPr>
          <a:lstStyle/>
          <a:p>
            <a:r>
              <a:rPr lang="pt-BR" dirty="0"/>
              <a:t>Teor alcoólico é o fator mais associado à qualidade: vinhos melhores tendem</a:t>
            </a:r>
          </a:p>
          <a:p>
            <a:r>
              <a:rPr lang="en-US" dirty="0"/>
              <a:t>a ter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álcool</a:t>
            </a:r>
            <a:r>
              <a:rPr lang="en-US" dirty="0"/>
              <a:t>.</a:t>
            </a:r>
            <a:endParaRPr lang="pt-BR" dirty="0"/>
          </a:p>
          <a:p>
            <a:r>
              <a:rPr lang="pt-BR" dirty="0"/>
              <a:t>Acidez volátil tem relação inversa: excesso derruba a qualidade.</a:t>
            </a:r>
          </a:p>
          <a:p>
            <a:r>
              <a:rPr lang="pt-BR" dirty="0"/>
              <a:t>Sulfatos e ácido cítrico também acompanham vinhos melhor avaliados.</a:t>
            </a:r>
          </a:p>
          <a:p>
            <a:r>
              <a:rPr lang="pt-BR" dirty="0"/>
              <a:t>Correlações coerentes com o conhecimento enológico — dão confiança ao modelo.</a:t>
            </a:r>
          </a:p>
          <a:p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BC0364-4B58-4841-A227-00A6A59E0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29A1F4-D02D-48E4-9331-6870B23B4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0813" y="479893"/>
            <a:ext cx="3685031" cy="545896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6A8CF3-711E-4C63-9DD5-53A2696C0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411" y="644485"/>
            <a:ext cx="3353835" cy="5129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DADE8F75-5AA6-F28F-2E5E-27FBF45D3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82" r="4" b="5"/>
          <a:stretch>
            <a:fillRect/>
          </a:stretch>
        </p:blipFill>
        <p:spPr>
          <a:xfrm>
            <a:off x="8340435" y="822036"/>
            <a:ext cx="3026664" cy="234810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5ED6B23-59C1-C480-E5F8-D041B18031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39" r="13990" b="1"/>
          <a:stretch>
            <a:fillRect/>
          </a:stretch>
        </p:blipFill>
        <p:spPr>
          <a:xfrm>
            <a:off x="8340435" y="3255097"/>
            <a:ext cx="3026664" cy="23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9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1BADEA-13A2-9256-326A-A53502BC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Definição do Alvo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9FBD73-E7BD-1383-1CD5-F18C1EBB9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solidFill>
                  <a:schemeClr val="bg1"/>
                </a:solidFill>
              </a:rPr>
              <a:t>Transformamos a nota em uma pergunta de </a:t>
            </a:r>
            <a:r>
              <a:rPr lang="pt-BR" b="1" dirty="0">
                <a:solidFill>
                  <a:schemeClr val="bg1"/>
                </a:solidFill>
              </a:rPr>
              <a:t>sim ou não</a:t>
            </a:r>
            <a:r>
              <a:rPr lang="pt-BR" dirty="0">
                <a:solidFill>
                  <a:schemeClr val="bg1"/>
                </a:solidFill>
              </a:rPr>
              <a:t>: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Apenas 13% dos vinhos são de alta qualidade → problema desbalanceado.</a:t>
            </a:r>
          </a:p>
          <a:p>
            <a:pPr lvl="0"/>
            <a:r>
              <a:rPr lang="pt-BR" dirty="0">
                <a:solidFill>
                  <a:schemeClr val="bg1"/>
                </a:solidFill>
              </a:rPr>
              <a:t>Consequência: um modelo "preguiçoso" que sempre diz "não é alta qualidade“ acerta 87% das vezes, mas </a:t>
            </a:r>
            <a:r>
              <a:rPr lang="pt-BR" b="1" dirty="0">
                <a:solidFill>
                  <a:schemeClr val="bg1"/>
                </a:solidFill>
              </a:rPr>
              <a:t>não serve para nada</a:t>
            </a:r>
            <a:r>
              <a:rPr lang="pt-BR" dirty="0">
                <a:solidFill>
                  <a:schemeClr val="bg1"/>
                </a:solidFill>
              </a:rPr>
              <a:t> — nunca identifica os vinhos bons. Por isso não olhamos só a acurácia.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0E6150BB-7B67-E879-2304-2AD80564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770" y="1217790"/>
            <a:ext cx="6250769" cy="4422419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743A7C6-FDA6-CB45-F2A5-BE139358B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480939"/>
              </p:ext>
            </p:extLst>
          </p:nvPr>
        </p:nvGraphicFramePr>
        <p:xfrm>
          <a:off x="5213095" y="643467"/>
          <a:ext cx="6548120" cy="345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4060">
                  <a:extLst>
                    <a:ext uri="{9D8B030D-6E8A-4147-A177-3AD203B41FA5}">
                      <a16:colId xmlns:a16="http://schemas.microsoft.com/office/drawing/2014/main" val="808223272"/>
                    </a:ext>
                  </a:extLst>
                </a:gridCol>
                <a:gridCol w="3274060">
                  <a:extLst>
                    <a:ext uri="{9D8B030D-6E8A-4147-A177-3AD203B41FA5}">
                      <a16:colId xmlns:a16="http://schemas.microsoft.com/office/drawing/2014/main" val="1128276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Alta </a:t>
                      </a:r>
                      <a:r>
                        <a:rPr lang="en-US" sz="1050" dirty="0" err="1">
                          <a:effectLst/>
                        </a:rPr>
                        <a:t>qualidade</a:t>
                      </a:r>
                      <a:endParaRPr lang="pt-BR" sz="1050" dirty="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Baixa/Média qualidade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119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nota ≥ 7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nota &lt; 7</a:t>
                      </a:r>
                      <a:endParaRPr lang="pt-BR" sz="1050" dirty="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3745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96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7423C-A116-C5D0-EB7D-BEAAD112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D1DC4-E0E6-361E-9642-C03E4BED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Abordagem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085E0F-381B-F4FC-0551-6FC9D940A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Separamos os dados em treino (80%) e teste (20%), mantendo a proporção </a:t>
            </a:r>
            <a:r>
              <a:rPr lang="en-US" dirty="0"/>
              <a:t>de vinhos bons.</a:t>
            </a:r>
            <a:endParaRPr lang="pt-BR" dirty="0"/>
          </a:p>
          <a:p>
            <a:pPr lvl="0"/>
            <a:r>
              <a:rPr lang="pt-BR" dirty="0"/>
              <a:t>Padronizamos as medições e testamos 4 modelos de inteligência artificial + um modelo de referência (baseline).</a:t>
            </a:r>
          </a:p>
          <a:p>
            <a:pPr lvl="0"/>
            <a:r>
              <a:rPr lang="pt-BR" dirty="0"/>
              <a:t>Ajustamos cada modelo com validação cruzada (para não depender de sorte).</a:t>
            </a:r>
          </a:p>
          <a:p>
            <a:pPr lvl="0"/>
            <a:r>
              <a:rPr lang="pt-BR" dirty="0"/>
              <a:t>Comparamos todos em dados nunca vistos no treino.</a:t>
            </a:r>
          </a:p>
          <a:p>
            <a:r>
              <a:rPr lang="pt-BR" dirty="0"/>
              <a:t>Tudo </a:t>
            </a:r>
            <a:r>
              <a:rPr lang="pt-BR" b="1" dirty="0"/>
              <a:t>reprodutível</a:t>
            </a:r>
            <a:r>
              <a:rPr lang="pt-BR" dirty="0"/>
              <a:t> e sem "vazamento" de informação.</a:t>
            </a:r>
          </a:p>
        </p:txBody>
      </p:sp>
    </p:spTree>
    <p:extLst>
      <p:ext uri="{BB962C8B-B14F-4D97-AF65-F5344CB8AC3E}">
        <p14:creationId xmlns:p14="http://schemas.microsoft.com/office/powerpoint/2010/main" val="2915968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CF0B7-8F91-6C58-34B9-302500FD8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6097F2-8811-39A4-1EDF-4EB45C1F2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25" y="3377509"/>
            <a:ext cx="3029410" cy="27340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74363EF-130A-BFEA-A7AF-066CF7A1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823441-8CD0-8EB4-9685-DE5082FA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732" y="1290025"/>
            <a:ext cx="5291327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Testados</a:t>
            </a:r>
            <a:r>
              <a:rPr lang="en-US" dirty="0"/>
              <a:t> e </a:t>
            </a:r>
            <a:r>
              <a:rPr lang="en-US" dirty="0" err="1"/>
              <a:t>Resultados</a:t>
            </a:r>
            <a:endParaRPr lang="pt-BR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5F74E1A-31D8-3A46-A1DD-D0B66A291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2" y="321733"/>
            <a:ext cx="4445597" cy="273404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C98807-E08B-EA32-2AEA-0075A028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9732" y="2858703"/>
            <a:ext cx="5285791" cy="152055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ROC-AUC de 0,92: a chance de o modelo ranquear corretamente um vinho bom acima de um ruim é de 92%.</a:t>
            </a:r>
          </a:p>
          <a:p>
            <a:r>
              <a:rPr lang="pt-BR" dirty="0">
                <a:solidFill>
                  <a:schemeClr val="bg1"/>
                </a:solidFill>
              </a:rPr>
              <a:t>Todos os modelos superam largamente o baseline.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EAB8C69-A4E1-A320-7B5C-8681745F8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09490"/>
              </p:ext>
            </p:extLst>
          </p:nvPr>
        </p:nvGraphicFramePr>
        <p:xfrm>
          <a:off x="5488884" y="4744530"/>
          <a:ext cx="6547485" cy="1035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2495">
                  <a:extLst>
                    <a:ext uri="{9D8B030D-6E8A-4147-A177-3AD203B41FA5}">
                      <a16:colId xmlns:a16="http://schemas.microsoft.com/office/drawing/2014/main" val="2088617261"/>
                    </a:ext>
                  </a:extLst>
                </a:gridCol>
                <a:gridCol w="2182495">
                  <a:extLst>
                    <a:ext uri="{9D8B030D-6E8A-4147-A177-3AD203B41FA5}">
                      <a16:colId xmlns:a16="http://schemas.microsoft.com/office/drawing/2014/main" val="932864043"/>
                    </a:ext>
                  </a:extLst>
                </a:gridCol>
                <a:gridCol w="2182495">
                  <a:extLst>
                    <a:ext uri="{9D8B030D-6E8A-4147-A177-3AD203B41FA5}">
                      <a16:colId xmlns:a16="http://schemas.microsoft.com/office/drawing/2014/main" val="18097942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Modelo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ROC-AUC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Recall (acha vinhos bons)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58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Random Forest (escolhido)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0,92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63%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26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SVM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0,90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44%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2312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Gradient Boosting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0,89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44%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902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Regressão Logística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0,89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78%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0428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Baseline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—</a:t>
                      </a:r>
                      <a:endParaRPr lang="pt-BR" sz="105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0%</a:t>
                      </a:r>
                      <a:endParaRPr lang="pt-BR" sz="1050" dirty="0">
                        <a:solidFill>
                          <a:srgbClr val="28251D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334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5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BE0CC-5309-294A-2CB1-9D5EBDDB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5D7F4E-5D1C-4349-B731-341734E6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t-BR" dirty="0"/>
              <a:t>O Melhor Modelo: Random Forest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404E6D-6ADA-4311-9F7C-C71852D07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pPr lvl="0"/>
            <a:r>
              <a:rPr lang="pt-BR">
                <a:solidFill>
                  <a:srgbClr val="FFFFFF"/>
                </a:solidFill>
              </a:rPr>
              <a:t>Melhor equilíbrio geral (ROC-AUC = 0,92).</a:t>
            </a:r>
          </a:p>
          <a:p>
            <a:pPr lvl="0"/>
            <a:r>
              <a:rPr lang="pt-BR">
                <a:solidFill>
                  <a:srgbClr val="FFFFFF"/>
                </a:solidFill>
              </a:rPr>
              <a:t>Identifica ~63% dos vinhos de alta qualidade no teste.</a:t>
            </a:r>
          </a:p>
          <a:p>
            <a:pPr lvl="0"/>
            <a:r>
              <a:rPr lang="pt-BR">
                <a:solidFill>
                  <a:srgbClr val="FFFFFF"/>
                </a:solidFill>
              </a:rPr>
              <a:t>Matriz de confusão mostra bom acerto na classe de interesse mesmo sendo rara.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1F307A0-9F5A-D558-DC8C-EAC519007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77" r="12283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3092368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2C0B1-559B-7125-4C2C-7806F213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DCA398B-8CB4-4C0C-89C6-A8AB6F78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72915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EAF425-F3A2-EC72-5E8D-643251ED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90025"/>
            <a:ext cx="4475892" cy="118872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pt-BR" sz="2600"/>
              <a:t>O que Move a Qualidade (Insights)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8F6A6C-4137-2C9C-41A3-A2B7D82ED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58703"/>
            <a:ext cx="4475892" cy="30425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Fatores mais influentes segundo o modelo:</a:t>
            </a:r>
          </a:p>
          <a:p>
            <a:pPr lvl="0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Teor alcoólico — o maior sinal de qualidade.</a:t>
            </a:r>
          </a:p>
          <a:p>
            <a:pPr lvl="0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Acidez volátil — quanto menor, melhor.</a:t>
            </a:r>
          </a:p>
          <a:p>
            <a:pPr lvl="0"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Sulfatos — associados a vinhos melhor avaliados.</a:t>
            </a:r>
          </a:p>
          <a:p>
            <a:pPr lvl="0"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Ácido cítrico — contribui positivamente.</a:t>
            </a:r>
            <a:endParaRPr lang="pt-BR" sz="1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pt-BR" sz="1700" b="1">
                <a:solidFill>
                  <a:srgbClr val="FFFFFF"/>
                </a:solidFill>
              </a:rPr>
              <a:t>Leitura de negócio:</a:t>
            </a:r>
            <a:r>
              <a:rPr lang="pt-BR" sz="1700">
                <a:solidFill>
                  <a:srgbClr val="FFFFFF"/>
                </a:solidFill>
              </a:rPr>
              <a:t> o controle desses parâmetros na produção tem relação</a:t>
            </a:r>
          </a:p>
          <a:p>
            <a:pPr>
              <a:lnSpc>
                <a:spcPct val="90000"/>
              </a:lnSpc>
            </a:pPr>
            <a:r>
              <a:rPr lang="pt-BR" sz="1700">
                <a:solidFill>
                  <a:srgbClr val="FFFFFF"/>
                </a:solidFill>
              </a:rPr>
              <a:t>direta com a qualidade percebida.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8345C6-0280-4226-BD83-7333BA6C3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032" y="640080"/>
            <a:ext cx="4818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823778-D290-4538-B146-1F73C3755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843" y="806357"/>
            <a:ext cx="451126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6079D33-53A1-A727-AAAE-5C39471C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" r="36936" b="-3"/>
          <a:stretch>
            <a:fillRect/>
          </a:stretch>
        </p:blipFill>
        <p:spPr>
          <a:xfrm>
            <a:off x="7208520" y="1126397"/>
            <a:ext cx="3867912" cy="4288536"/>
          </a:xfrm>
          <a:prstGeom prst="rect">
            <a:avLst/>
          </a:prstGeo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264849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7EB7-F97B-9254-FCD4-1516C0B0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A34B6-0600-AE53-47AF-C4CF9BBC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e 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4B2B9-3D01-8B4F-FBBE-9C2F9763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Desbalanceamento: poucos exemplos de vinhos excelentes limitam a precisão.</a:t>
            </a:r>
          </a:p>
          <a:p>
            <a:pPr lvl="0"/>
            <a:r>
              <a:rPr lang="pt-BR" dirty="0"/>
              <a:t>Base de vinho tinto de uma origem — não generaliza automaticamente para vinho branco ou outras regiões.</a:t>
            </a:r>
          </a:p>
          <a:p>
            <a:pPr lvl="0"/>
            <a:r>
              <a:rPr lang="pt-BR" dirty="0"/>
              <a:t>A qualidade sensorial tem componente subjetivo que nenhum dado físico-químico </a:t>
            </a:r>
            <a:r>
              <a:rPr lang="en-US" dirty="0" err="1"/>
              <a:t>captura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.</a:t>
            </a:r>
            <a:endParaRPr lang="pt-BR" dirty="0"/>
          </a:p>
          <a:p>
            <a:pPr lvl="0"/>
            <a:r>
              <a:rPr lang="pt-BR" dirty="0"/>
              <a:t>O modelo apoia, não substitui, o especialista.</a:t>
            </a:r>
          </a:p>
        </p:txBody>
      </p:sp>
    </p:spTree>
    <p:extLst>
      <p:ext uri="{BB962C8B-B14F-4D97-AF65-F5344CB8AC3E}">
        <p14:creationId xmlns:p14="http://schemas.microsoft.com/office/powerpoint/2010/main" val="349829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E52A-B7DE-8095-4AFE-F4A6E6B8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A8604-0C70-AA18-AF74-EE64DFF4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Recomendação Final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943BCC-388B-B23C-72F5-CCC1F202C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Adotar o modelo como </a:t>
            </a:r>
            <a:r>
              <a:rPr lang="pt-BR" dirty="0" err="1"/>
              <a:t>triador</a:t>
            </a:r>
            <a:r>
              <a:rPr lang="pt-BR" dirty="0"/>
              <a:t> automático de lotes: sinaliza os candidatos a alta qualidade para inspeção prioritária.</a:t>
            </a:r>
          </a:p>
          <a:p>
            <a:pPr lvl="0"/>
            <a:r>
              <a:rPr lang="pt-BR" dirty="0"/>
              <a:t>Ganho: foco do enólogo nos casos que mais importam e padronização do </a:t>
            </a:r>
            <a:r>
              <a:rPr lang="en-US" dirty="0"/>
              <a:t>controle de </a:t>
            </a:r>
            <a:r>
              <a:rPr lang="en-US" dirty="0" err="1"/>
              <a:t>qualidade</a:t>
            </a:r>
            <a:r>
              <a:rPr lang="en-US" dirty="0"/>
              <a:t>.</a:t>
            </a:r>
            <a:endParaRPr lang="pt-BR" dirty="0"/>
          </a:p>
          <a:p>
            <a:pPr lvl="0"/>
            <a:r>
              <a:rPr lang="pt-BR" dirty="0"/>
              <a:t>Próximos passos: coletar mais amostras de alta qualidade, calibrar o ponto de corte conforme o custo do erro e estender ao vinho branco.</a:t>
            </a:r>
          </a:p>
        </p:txBody>
      </p:sp>
    </p:spTree>
    <p:extLst>
      <p:ext uri="{BB962C8B-B14F-4D97-AF65-F5344CB8AC3E}">
        <p14:creationId xmlns:p14="http://schemas.microsoft.com/office/powerpoint/2010/main" val="1151248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F532-8255-9E8F-C150-61AFCC1E0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69CDE428-4C1B-DA64-5759-96B71C2F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FBFE351-51BB-A695-2EAE-97DFB7C4258C}"/>
              </a:ext>
            </a:extLst>
          </p:cNvPr>
          <p:cNvSpPr txBox="1"/>
          <p:nvPr/>
        </p:nvSpPr>
        <p:spPr>
          <a:xfrm>
            <a:off x="320040" y="693554"/>
            <a:ext cx="96286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800" b="1" dirty="0">
                <a:solidFill>
                  <a:schemeClr val="tx1"/>
                </a:solidFill>
              </a:rPr>
              <a:t>Prevendo a Qualidade</a:t>
            </a:r>
            <a:br>
              <a:rPr lang="pt-BR" sz="4800" b="1" dirty="0">
                <a:solidFill>
                  <a:schemeClr val="tx1"/>
                </a:solidFill>
              </a:rPr>
            </a:br>
            <a:r>
              <a:rPr lang="pt-BR" sz="4800" b="1" dirty="0">
                <a:solidFill>
                  <a:schemeClr val="tx1"/>
                </a:solidFill>
              </a:rPr>
              <a:t>de Vinhos com Dados</a:t>
            </a:r>
            <a:endParaRPr lang="pt-BR" sz="48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1176DE2-CC5A-FEAD-6B22-2A8C547C971A}"/>
              </a:ext>
            </a:extLst>
          </p:cNvPr>
          <p:cNvSpPr txBox="1"/>
          <p:nvPr/>
        </p:nvSpPr>
        <p:spPr>
          <a:xfrm>
            <a:off x="320040" y="2738577"/>
            <a:ext cx="96286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tx1"/>
                </a:solidFill>
              </a:rPr>
              <a:t>Obrigado!</a:t>
            </a:r>
          </a:p>
          <a:p>
            <a:endParaRPr lang="pt-BR" sz="2400" b="1" dirty="0"/>
          </a:p>
          <a:p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Dúvidas estou à disposição.</a:t>
            </a:r>
          </a:p>
          <a:p>
            <a:endParaRPr lang="pt-BR" sz="2400" b="1" dirty="0"/>
          </a:p>
          <a:p>
            <a:endParaRPr lang="pt-BR" sz="2400" b="1" dirty="0"/>
          </a:p>
          <a:p>
            <a:r>
              <a:rPr lang="pt-BR" sz="2400" dirty="0"/>
              <a:t>Link do Repositório do projeto no Github: </a:t>
            </a:r>
            <a:r>
              <a:rPr lang="pt-BR" sz="2400" dirty="0">
                <a:hlinkClick r:id="rId3"/>
              </a:rPr>
              <a:t>https://github.com/bruno88rick/wine-Quality-classification</a:t>
            </a:r>
            <a:r>
              <a:rPr lang="pt-B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1097953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4</TotalTime>
  <Words>688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Gill Sans MT</vt:lpstr>
      <vt:lpstr>Pacote</vt:lpstr>
      <vt:lpstr>Apresentação do PowerPoint</vt:lpstr>
      <vt:lpstr>O Problema de Negócio</vt:lpstr>
      <vt:lpstr>Os dados que temos disponíveis</vt:lpstr>
      <vt:lpstr>O que a Análise Exploratória Revelou?</vt:lpstr>
      <vt:lpstr>A Definição do Alvo</vt:lpstr>
      <vt:lpstr>A Abordagem</vt:lpstr>
      <vt:lpstr>Modelos Testados e Resultados</vt:lpstr>
      <vt:lpstr>O Melhor Modelo: Random Forest</vt:lpstr>
      <vt:lpstr>O que Move a Qualidade (Insights)</vt:lpstr>
      <vt:lpstr>Riscos e Limitações</vt:lpstr>
      <vt:lpstr>Recomendação Final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Ricardo de Oliveira</dc:creator>
  <cp:lastModifiedBy>Bruno Ricardo de Oliveira</cp:lastModifiedBy>
  <cp:revision>1</cp:revision>
  <dcterms:created xsi:type="dcterms:W3CDTF">2026-07-09T10:34:41Z</dcterms:created>
  <dcterms:modified xsi:type="dcterms:W3CDTF">2026-07-13T19:56:50Z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501a60-8e65-4cab-97d8-bec0416d9d99_Enabled">
    <vt:lpwstr>true</vt:lpwstr>
  </property>
  <property fmtid="{D5CDD505-2E9C-101B-9397-08002B2CF9AE}" pid="3" name="MSIP_Label_f7501a60-8e65-4cab-97d8-bec0416d9d99_SetDate">
    <vt:lpwstr>2026-07-09T10:58:34Z</vt:lpwstr>
  </property>
  <property fmtid="{D5CDD505-2E9C-101B-9397-08002B2CF9AE}" pid="4" name="MSIP_Label_f7501a60-8e65-4cab-97d8-bec0416d9d99_Method">
    <vt:lpwstr>Privileged</vt:lpwstr>
  </property>
  <property fmtid="{D5CDD505-2E9C-101B-9397-08002B2CF9AE}" pid="5" name="MSIP_Label_f7501a60-8e65-4cab-97d8-bec0416d9d99_Name">
    <vt:lpwstr>defa4170-0d19-0005-0001-bc88714345d2</vt:lpwstr>
  </property>
  <property fmtid="{D5CDD505-2E9C-101B-9397-08002B2CF9AE}" pid="6" name="MSIP_Label_f7501a60-8e65-4cab-97d8-bec0416d9d99_SiteId">
    <vt:lpwstr>df1f457e-71df-415c-b8cc-0796095281a9</vt:lpwstr>
  </property>
  <property fmtid="{D5CDD505-2E9C-101B-9397-08002B2CF9AE}" pid="7" name="MSIP_Label_f7501a60-8e65-4cab-97d8-bec0416d9d99_ActionId">
    <vt:lpwstr>c0165ae3-80bf-4a02-9a11-d2f9b347f528</vt:lpwstr>
  </property>
  <property fmtid="{D5CDD505-2E9C-101B-9397-08002B2CF9AE}" pid="8" name="MSIP_Label_f7501a60-8e65-4cab-97d8-bec0416d9d99_ContentBits">
    <vt:lpwstr>2</vt:lpwstr>
  </property>
  <property fmtid="{D5CDD505-2E9C-101B-9397-08002B2CF9AE}" pid="9" name="MSIP_Label_f7501a60-8e65-4cab-97d8-bec0416d9d99_Tag">
    <vt:lpwstr>10, 0, 1, 1</vt:lpwstr>
  </property>
  <property fmtid="{D5CDD505-2E9C-101B-9397-08002B2CF9AE}" pid="10" name="ClassificationContentMarkingFooterLocations">
    <vt:lpwstr>Pacote:8</vt:lpwstr>
  </property>
  <property fmtid="{D5CDD505-2E9C-101B-9397-08002B2CF9AE}" pid="11" name="ClassificationContentMarkingFooterText">
    <vt:lpwstr>Informação Pública | Public Information</vt:lpwstr>
  </property>
</Properties>
</file>